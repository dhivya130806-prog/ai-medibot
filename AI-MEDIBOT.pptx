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2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9" r:id="rId6"/>
    <p:sldId id="261" r:id="rId7"/>
    <p:sldId id="270" r:id="rId8"/>
    <p:sldId id="262" r:id="rId9"/>
    <p:sldId id="272" r:id="rId10"/>
    <p:sldId id="273" r:id="rId11"/>
    <p:sldId id="271" r:id="rId12"/>
    <p:sldId id="274" r:id="rId13"/>
    <p:sldId id="268" r:id="rId14"/>
    <p:sldId id="263" r:id="rId15"/>
    <p:sldId id="266" r:id="rId16"/>
    <p:sldId id="267" r:id="rId17"/>
  </p:sldIdLst>
  <p:sldSz cx="12192000" cy="6858000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6144" autoAdjust="0"/>
  </p:normalViewPr>
  <p:slideViewPr>
    <p:cSldViewPr snapToGrid="0">
      <p:cViewPr varScale="1">
        <p:scale>
          <a:sx n="71" d="100"/>
          <a:sy n="71" d="100"/>
        </p:scale>
        <p:origin x="283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iya Murugesan" userId="06c59ceb8f39367a" providerId="LiveId" clId="{7CB6835B-9DE1-4E78-AC71-91B445EFF00C}"/>
    <pc:docChg chg="custSel modSld">
      <pc:chgData name="Kaviya Murugesan" userId="06c59ceb8f39367a" providerId="LiveId" clId="{7CB6835B-9DE1-4E78-AC71-91B445EFF00C}" dt="2026-04-07T19:23:10.197" v="5" actId="700"/>
      <pc:docMkLst>
        <pc:docMk/>
      </pc:docMkLst>
      <pc:sldChg chg="modSp mod">
        <pc:chgData name="Kaviya Murugesan" userId="06c59ceb8f39367a" providerId="LiveId" clId="{7CB6835B-9DE1-4E78-AC71-91B445EFF00C}" dt="2026-04-07T19:22:51.236" v="3" actId="20577"/>
        <pc:sldMkLst>
          <pc:docMk/>
          <pc:sldMk cId="1139366635" sldId="256"/>
        </pc:sldMkLst>
        <pc:spChg chg="mod">
          <ac:chgData name="Kaviya Murugesan" userId="06c59ceb8f39367a" providerId="LiveId" clId="{7CB6835B-9DE1-4E78-AC71-91B445EFF00C}" dt="2026-04-07T19:22:51.236" v="3" actId="20577"/>
          <ac:spMkLst>
            <pc:docMk/>
            <pc:sldMk cId="1139366635" sldId="256"/>
            <ac:spMk id="18" creationId="{00000000-0000-0000-0000-000000000000}"/>
          </ac:spMkLst>
        </pc:spChg>
      </pc:sldChg>
      <pc:sldChg chg="addSp delSp modSp mod modClrScheme chgLayout">
        <pc:chgData name="Kaviya Murugesan" userId="06c59ceb8f39367a" providerId="LiveId" clId="{7CB6835B-9DE1-4E78-AC71-91B445EFF00C}" dt="2026-04-07T19:23:10.197" v="5" actId="700"/>
        <pc:sldMkLst>
          <pc:docMk/>
          <pc:sldMk cId="2556776695" sldId="271"/>
        </pc:sldMkLst>
        <pc:spChg chg="add del mod ord">
          <ac:chgData name="Kaviya Murugesan" userId="06c59ceb8f39367a" providerId="LiveId" clId="{7CB6835B-9DE1-4E78-AC71-91B445EFF00C}" dt="2026-04-07T19:23:10.197" v="5" actId="700"/>
          <ac:spMkLst>
            <pc:docMk/>
            <pc:sldMk cId="2556776695" sldId="271"/>
            <ac:spMk id="2" creationId="{005D8AD8-3863-79B4-C4B3-86A8F295B8E7}"/>
          </ac:spMkLst>
        </pc:spChg>
        <pc:spChg chg="mod ord">
          <ac:chgData name="Kaviya Murugesan" userId="06c59ceb8f39367a" providerId="LiveId" clId="{7CB6835B-9DE1-4E78-AC71-91B445EFF00C}" dt="2026-04-07T19:23:10.197" v="5" actId="700"/>
          <ac:spMkLst>
            <pc:docMk/>
            <pc:sldMk cId="2556776695" sldId="271"/>
            <ac:spMk id="6" creationId="{B3799F9A-694F-4E0E-C0BC-F0D867C5A855}"/>
          </ac:spMkLst>
        </pc:spChg>
        <pc:picChg chg="mod ord">
          <ac:chgData name="Kaviya Murugesan" userId="06c59ceb8f39367a" providerId="LiveId" clId="{7CB6835B-9DE1-4E78-AC71-91B445EFF00C}" dt="2026-04-07T19:23:10.197" v="5" actId="700"/>
          <ac:picMkLst>
            <pc:docMk/>
            <pc:sldMk cId="2556776695" sldId="271"/>
            <ac:picMk id="10" creationId="{272B2DDA-094B-A539-50DC-EE999EC037B6}"/>
          </ac:picMkLst>
        </pc:picChg>
        <pc:picChg chg="mod ord">
          <ac:chgData name="Kaviya Murugesan" userId="06c59ceb8f39367a" providerId="LiveId" clId="{7CB6835B-9DE1-4E78-AC71-91B445EFF00C}" dt="2026-04-07T19:23:10.197" v="5" actId="700"/>
          <ac:picMkLst>
            <pc:docMk/>
            <pc:sldMk cId="2556776695" sldId="271"/>
            <ac:picMk id="12" creationId="{00E3717D-7512-06F0-B5F0-E23073740EE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‹#›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charset="0"/>
                <a:ea typeface="等线" charset="0"/>
                <a:cs typeface="Calibri" charset="0"/>
              </a:rPr>
              <a:t>4/8/2026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9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" name="文本框"/>
          <p:cNvSpPr>
            <a:spLocks noGrp="1"/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1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9261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618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2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140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3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13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4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205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6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22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8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9507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14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0041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15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56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16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424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0" b="0" i="0" u="none" strike="noStrike" kern="1200" cap="none" spc="0" baseline="0">
                <a:solidFill>
                  <a:schemeClr val="tx1"/>
                </a:solidFill>
                <a:latin typeface="Calibri Light" charset="0"/>
                <a:ea typeface="等线 Light" charset="0"/>
                <a:cs typeface="Lucida Sans"/>
              </a:rPr>
              <a:t>Click to edit Master title style</a:t>
            </a:r>
            <a:endParaRPr lang="zh-CN" altLang="en-US" sz="6000" b="0" i="0" u="none" strike="noStrike" kern="1200" cap="none" spc="0" baseline="0">
              <a:solidFill>
                <a:schemeClr val="tx1"/>
              </a:solidFill>
              <a:latin typeface="Calibri Light" charset="0"/>
              <a:ea typeface="等线 Light" charset="0"/>
              <a:cs typeface="Lucida Sans"/>
            </a:endParaRPr>
          </a:p>
        </p:txBody>
      </p:sp>
      <p:sp>
        <p:nvSpPr>
          <p:cNvPr id="14" name="文本框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Lucida Sans"/>
              </a:rPr>
              <a:t>Click to edit Master subtitle style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Lucida Sans"/>
            </a:endParaRPr>
          </a:p>
        </p:txBody>
      </p:sp>
      <p:sp>
        <p:nvSpPr>
          <p:cNvPr id="15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6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7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等线" charset="0"/>
                <a:cs typeface="Calibri" charset="0"/>
              </a:rPr>
              <a:t>‹#›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14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580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9061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70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35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59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257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881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027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244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833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5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6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等线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6885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40" name="文本框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1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42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43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等线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3173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55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56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57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等线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138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charset="0"/>
                <a:ea typeface="等线" charset="0"/>
                <a:cs typeface="Calibri" charset="0"/>
              </a:rPr>
              <a:t>4/8/2026</a:t>
            </a:fld>
            <a:endParaRPr lang="zh-CN" altLang="en-US" sz="120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等线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540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lvl1pPr algn="l" defTabSz="914400" eaLnBrk="1" fontAlgn="auto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Calibri Light" charset="0"/>
          <a:ea typeface="等线 Light" charset="0"/>
          <a:cs typeface="Calibri Light" charset="0"/>
        </a:defRPr>
      </a:lvl1pPr>
    </p:titleStyle>
    <p:bodyStyle>
      <a:lvl1pPr marL="228600" indent="-228600" algn="l" defTabSz="914400" eaLnBrk="1" fontAlgn="auto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1pPr>
      <a:lvl2pPr marL="685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2pPr>
      <a:lvl3pPr marL="1143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3pPr>
      <a:lvl4pPr marL="16002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4pPr>
      <a:lvl5pPr marL="20574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5pPr>
      <a:lvl6pPr marL="25146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6pPr>
      <a:lvl7pPr marL="2971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7pPr>
      <a:lvl8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8pPr>
      <a:lvl9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"/>
          <p:cNvSpPr>
            <a:spLocks noGrp="1"/>
          </p:cNvSpPr>
          <p:nvPr>
            <p:ph type="subTitle" idx="4294967295"/>
          </p:nvPr>
        </p:nvSpPr>
        <p:spPr>
          <a:xfrm>
            <a:off x="7998106" y="3078866"/>
            <a:ext cx="4031968" cy="533592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                                                                                                                       SUBMITTED BY</a:t>
            </a:r>
          </a:p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		                                                   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Abi </a:t>
            </a:r>
            <a:r>
              <a:rPr lang="en-US" altLang="zh-CN" sz="1800" b="0" i="0" u="none" strike="noStrike" kern="1200" cap="none" spc="0" baseline="0" dirty="0" err="1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Neyathii</a:t>
            </a: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R S (721922104003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zh-CN" sz="1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                                                                                             Kaviya Dharshini M (721922104057)</a:t>
            </a:r>
          </a:p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                                                                              Dhivya K(721922104030)</a:t>
            </a:r>
          </a:p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                                                                                              Divya Dharshini M (721922104033)</a:t>
            </a:r>
            <a:endParaRPr lang="zh-CN" altLang="en-US" sz="1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  <p:sp>
        <p:nvSpPr>
          <p:cNvPr id="19" name="矩形"/>
          <p:cNvSpPr>
            <a:spLocks/>
          </p:cNvSpPr>
          <p:nvPr/>
        </p:nvSpPr>
        <p:spPr>
          <a:xfrm>
            <a:off x="278130" y="4539615"/>
            <a:ext cx="6775450" cy="18516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GUIDED BY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         Dr. Tamizharasu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         Department of Computer Science and Engineering                                 </a:t>
            </a:r>
            <a:endParaRPr lang="zh-CN" altLang="en-US" sz="1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  <p:sp>
        <p:nvSpPr>
          <p:cNvPr id="20" name="矩形"/>
          <p:cNvSpPr>
            <a:spLocks/>
          </p:cNvSpPr>
          <p:nvPr/>
        </p:nvSpPr>
        <p:spPr>
          <a:xfrm>
            <a:off x="2979873" y="3263900"/>
            <a:ext cx="5939155" cy="386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 SECOND REVIEW -2026</a:t>
            </a:r>
            <a:endParaRPr lang="zh-CN" altLang="en-US" sz="20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  <p:sp>
        <p:nvSpPr>
          <p:cNvPr id="21" name="矩形"/>
          <p:cNvSpPr>
            <a:spLocks/>
          </p:cNvSpPr>
          <p:nvPr/>
        </p:nvSpPr>
        <p:spPr>
          <a:xfrm>
            <a:off x="171450" y="194310"/>
            <a:ext cx="11830050" cy="653796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pic>
        <p:nvPicPr>
          <p:cNvPr id="22" name="图片" descr="WhatsApp_Image_2024-09-07_at_5.42.49_AM-removebg-preview.png"/>
          <p:cNvPicPr>
            <a:picLocks/>
          </p:cNvPicPr>
          <p:nvPr/>
        </p:nvPicPr>
        <p:blipFill>
          <a:blip r:embed="rId3" cstate="print"/>
          <a:srcRect l="2317" t="15898"/>
          <a:stretch>
            <a:fillRect/>
          </a:stretch>
        </p:blipFill>
        <p:spPr>
          <a:xfrm>
            <a:off x="591185" y="193675"/>
            <a:ext cx="10922634" cy="16179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3" name="矩形"/>
          <p:cNvSpPr>
            <a:spLocks/>
          </p:cNvSpPr>
          <p:nvPr/>
        </p:nvSpPr>
        <p:spPr>
          <a:xfrm>
            <a:off x="0" y="2318385"/>
            <a:ext cx="12020549" cy="67436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ctr" eaLnBrk="1" latinLnBrk="0" hangingPunct="1">
              <a:lnSpc>
                <a:spcPct val="12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 dirty="0">
                <a:solidFill>
                  <a:schemeClr val="tx1"/>
                </a:solidFill>
                <a:latin typeface="Times New Roman" panose="02020603050405020304" pitchFamily="18" charset="0"/>
                <a:ea typeface="等线 Light" charset="0"/>
                <a:cs typeface="Times New Roman" pitchFamily="18" charset="0"/>
              </a:rPr>
              <a:t> </a:t>
            </a:r>
            <a:r>
              <a:rPr lang="en-US" altLang="zh-CN" sz="2000" b="1" i="0" u="none" strike="noStrike" kern="1200" cap="none" spc="0" baseline="0" dirty="0">
                <a:solidFill>
                  <a:schemeClr val="tx1"/>
                </a:solidFill>
                <a:latin typeface="Times New Roman" panose="02020603050405020304" pitchFamily="18" charset="0"/>
                <a:ea typeface="等线 Light" charset="0"/>
                <a:cs typeface="Times New Roman" pitchFamily="18" charset="0"/>
              </a:rPr>
              <a:t>AI MEDBOT-driven preliminary treatment suggestions based </a:t>
            </a:r>
          </a:p>
          <a:p>
            <a:pPr marL="0" indent="0" algn="ctr" eaLnBrk="1" latinLnBrk="0" hangingPunct="1">
              <a:lnSpc>
                <a:spcPct val="12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 dirty="0">
                <a:solidFill>
                  <a:schemeClr val="tx1"/>
                </a:solidFill>
                <a:latin typeface="Times New Roman" panose="02020603050405020304" pitchFamily="18" charset="0"/>
                <a:ea typeface="等线 Light" charset="0"/>
                <a:cs typeface="Times New Roman" pitchFamily="18" charset="0"/>
              </a:rPr>
              <a:t>on user-reported symptoms</a:t>
            </a:r>
            <a:endParaRPr lang="zh-CN" altLang="en-US" sz="2000" b="1" i="0" u="none" strike="noStrike" kern="1200" cap="none" spc="0" baseline="0" dirty="0">
              <a:solidFill>
                <a:schemeClr val="tx1"/>
              </a:solidFill>
              <a:latin typeface="Times New Roman" panose="02020603050405020304" pitchFamily="18" charset="0"/>
              <a:ea typeface="等线 Light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366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"/>
          <p:cNvSpPr>
            <a:spLocks/>
          </p:cNvSpPr>
          <p:nvPr/>
        </p:nvSpPr>
        <p:spPr>
          <a:xfrm>
            <a:off x="480695" y="379095"/>
            <a:ext cx="11274425" cy="600265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CONTENT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marL="1200150" lvl="2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Abstract </a:t>
            </a:r>
          </a:p>
          <a:p>
            <a:pPr marL="1200150" lvl="2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Introduction  </a:t>
            </a:r>
          </a:p>
          <a:p>
            <a:pPr marL="1200150" lvl="2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Literature Survey</a:t>
            </a:r>
          </a:p>
          <a:p>
            <a:pPr marL="1200150" lvl="2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Existing Technology</a:t>
            </a:r>
          </a:p>
          <a:p>
            <a:pPr marL="1200150" lvl="2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Proposed Technology</a:t>
            </a:r>
          </a:p>
          <a:p>
            <a:pPr marL="1200150" lvl="2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Scope of the Project</a:t>
            </a:r>
          </a:p>
          <a:p>
            <a:pPr marL="1200150" lvl="2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Merits</a:t>
            </a:r>
          </a:p>
          <a:p>
            <a:pPr marL="1200150" lvl="2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Demerits</a:t>
            </a:r>
          </a:p>
          <a:p>
            <a:pPr marL="1200150" lvl="2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Conclusion         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>
            <a:off x="104775" y="114301"/>
            <a:ext cx="11963400" cy="665988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692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"/>
          <p:cNvSpPr>
            <a:spLocks/>
          </p:cNvSpPr>
          <p:nvPr/>
        </p:nvSpPr>
        <p:spPr>
          <a:xfrm>
            <a:off x="107575" y="134470"/>
            <a:ext cx="11967883" cy="6615953"/>
          </a:xfrm>
          <a:prstGeom prst="rect">
            <a:avLst/>
          </a:prstGeom>
          <a:noFill/>
          <a:ln w="12700" cap="flat" cmpd="sng">
            <a:solidFill>
              <a:srgbClr val="41719C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0" name="矩形"/>
          <p:cNvSpPr>
            <a:spLocks/>
          </p:cNvSpPr>
          <p:nvPr/>
        </p:nvSpPr>
        <p:spPr>
          <a:xfrm>
            <a:off x="1138334" y="870221"/>
            <a:ext cx="9349274" cy="386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ABSTRACT</a:t>
            </a:r>
            <a:endParaRPr lang="zh-CN" altLang="en-US" sz="20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  <p:sp>
        <p:nvSpPr>
          <p:cNvPr id="31" name="矩形"/>
          <p:cNvSpPr>
            <a:spLocks/>
          </p:cNvSpPr>
          <p:nvPr/>
        </p:nvSpPr>
        <p:spPr>
          <a:xfrm>
            <a:off x="1138334" y="1614197"/>
            <a:ext cx="9862457" cy="333946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AI MEDIBOT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is an intelligent healthcare platform designed to streamline patient care and hospital management through AI-driven automation. 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By integrating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Machine Learning (ML)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and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Natural Language Processing (NLP)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, the system analyzes user-reported symptoms to provide preliminary medical guidance and identify potential health conditions.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The platform offers a unified suite of services, including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real-time doctor appointment booking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, specialist recommendations, and an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integrated medical e-commerce module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for purchasing healthcare products.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Developed using a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Python-based backend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(Flask/Django), the system focuses on reducing patient wait times and improving healthcare accessibility in underserved regions. 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162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"/>
          <p:cNvSpPr>
            <a:spLocks/>
          </p:cNvSpPr>
          <p:nvPr/>
        </p:nvSpPr>
        <p:spPr>
          <a:xfrm>
            <a:off x="1271411" y="327298"/>
            <a:ext cx="8929397" cy="47409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INTRODUCTION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  <p:sp>
        <p:nvSpPr>
          <p:cNvPr id="33" name="矩形"/>
          <p:cNvSpPr>
            <a:spLocks/>
          </p:cNvSpPr>
          <p:nvPr/>
        </p:nvSpPr>
        <p:spPr>
          <a:xfrm>
            <a:off x="114300" y="137160"/>
            <a:ext cx="11990069" cy="658368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4" name="矩形"/>
          <p:cNvSpPr>
            <a:spLocks/>
          </p:cNvSpPr>
          <p:nvPr/>
        </p:nvSpPr>
        <p:spPr>
          <a:xfrm>
            <a:off x="814210" y="1055814"/>
            <a:ext cx="10793071" cy="570166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The Problem (Current Challenges)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System Overload: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Rising population and a shortage of medical professionals.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Inaccessibility: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Long wait times and difficulty booking timely appointments.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Information Gap: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Lack of immediate, reliable medical guidance before hospital visits.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Fragmented Care: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Patients struggle to find the right specialists and obtain medications through a single source.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The Solution (AI MEDIBOT)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Unified Digital Platform: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Bridges the gap between patients and providers through an all-in-one assistant.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Smart Symptom Analysis: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Uses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NLP and Machine Learning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to provide preliminary treatment suggestions.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Dynamic Scheduling: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Facilitates real-time appointment booking and doctor availability tracking.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Integrated E-Pharmacy: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Includes a module for purchasing prescribed medicines and health products.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Targeted Referrals: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Recommends specific hospitals or specialists based on analyzed health needs.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275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9DDE7-B15E-528C-A9C9-387A4FDD5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219" y="140069"/>
            <a:ext cx="7302661" cy="451382"/>
          </a:xfrm>
        </p:spPr>
        <p:txBody>
          <a:bodyPr/>
          <a:lstStyle/>
          <a:p>
            <a:r>
              <a:rPr lang="en-US" sz="200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LITERATURE SURVEY</a:t>
            </a:r>
            <a:endParaRPr lang="en-IN" sz="2000" dirty="0">
              <a:latin typeface="Times New Roman Bold" panose="02020803070505020304" pitchFamily="18" charset="0"/>
              <a:cs typeface="Times New Roman Bold" panose="020208030705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631B675-F283-57B1-98D7-3BE7C45309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7012429"/>
              </p:ext>
            </p:extLst>
          </p:nvPr>
        </p:nvGraphicFramePr>
        <p:xfrm>
          <a:off x="396240" y="579122"/>
          <a:ext cx="11186160" cy="591311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00105">
                  <a:extLst>
                    <a:ext uri="{9D8B030D-6E8A-4147-A177-3AD203B41FA5}">
                      <a16:colId xmlns:a16="http://schemas.microsoft.com/office/drawing/2014/main" val="1707353371"/>
                    </a:ext>
                  </a:extLst>
                </a:gridCol>
                <a:gridCol w="1988651">
                  <a:extLst>
                    <a:ext uri="{9D8B030D-6E8A-4147-A177-3AD203B41FA5}">
                      <a16:colId xmlns:a16="http://schemas.microsoft.com/office/drawing/2014/main" val="1982868600"/>
                    </a:ext>
                  </a:extLst>
                </a:gridCol>
                <a:gridCol w="2170053">
                  <a:extLst>
                    <a:ext uri="{9D8B030D-6E8A-4147-A177-3AD203B41FA5}">
                      <a16:colId xmlns:a16="http://schemas.microsoft.com/office/drawing/2014/main" val="1763181460"/>
                    </a:ext>
                  </a:extLst>
                </a:gridCol>
                <a:gridCol w="2674638">
                  <a:extLst>
                    <a:ext uri="{9D8B030D-6E8A-4147-A177-3AD203B41FA5}">
                      <a16:colId xmlns:a16="http://schemas.microsoft.com/office/drawing/2014/main" val="860570220"/>
                    </a:ext>
                  </a:extLst>
                </a:gridCol>
                <a:gridCol w="3252713">
                  <a:extLst>
                    <a:ext uri="{9D8B030D-6E8A-4147-A177-3AD203B41FA5}">
                      <a16:colId xmlns:a16="http://schemas.microsoft.com/office/drawing/2014/main" val="2444000558"/>
                    </a:ext>
                  </a:extLst>
                </a:gridCol>
              </a:tblGrid>
              <a:tr h="44252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Study/Title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167467"/>
                  </a:ext>
                </a:extLst>
              </a:tr>
              <a:tr h="137445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Mizra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Moiz Baig et al.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review on smart healthcare using medical chatbots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analyzed chatbot architecture, NLP techniques, machine learning methods.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Showed how medical chatbots can improve smart healthcare by giving 24/7 support, faster response and remote patient monitoring.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498393"/>
                  </a:ext>
                </a:extLst>
              </a:tr>
              <a:tr h="137445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Sanjay Chakraborty et al.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AI-Based Medical chatbot model for Infectious Disease prediction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(NLP) and a deep learning model with multilayer perceptron/LSTM.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an AI chatbot that predicts infectious diseases with about 94% accuracy and gives treatment suggestions, nearby doctor details and hospital information.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876231"/>
                  </a:ext>
                </a:extLst>
              </a:tr>
              <a:tr h="85903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Ahmad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A.Alzahrani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Developing A primary healthcare diagnosis system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Built a primary healthcare diagnosis system using symptom.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Helped users get early diagnosis and primary healthcare advice without visiting a hospital immediately, reducing time and improving accessibility.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883332"/>
                  </a:ext>
                </a:extLst>
              </a:tr>
              <a:tr h="85903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Smriti Sharma et al.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MEDIBOT-An AI Powered Chatbot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an AI-powered chatbot framework with NLP, symptom analysis and medical database integration.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a user-friendly medical assistant called MEDIBOT that provides instant health guidance, symptom checking and basic treatment recommendations.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933856"/>
                  </a:ext>
                </a:extLst>
              </a:tr>
              <a:tr h="100361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Sreedar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Medical chatbot  assistance for primary clinical guidance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a clinical guidance chatbot with NLP and rule-based decision support.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primary clinical guidance by giving users quick recommendations, helping them decide whether home care or doctor consultation is needed.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595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9902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"/>
          <p:cNvSpPr>
            <a:spLocks noGrp="1"/>
          </p:cNvSpPr>
          <p:nvPr>
            <p:ph type="title"/>
          </p:nvPr>
        </p:nvSpPr>
        <p:spPr>
          <a:xfrm>
            <a:off x="407507" y="758450"/>
            <a:ext cx="10515600" cy="51481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 Light" charset="0"/>
                <a:cs typeface="Times New Roman" pitchFamily="18" charset="0"/>
              </a:rPr>
              <a:t>EXISTING TECHNOLOGY</a:t>
            </a:r>
            <a:endParaRPr lang="zh-CN" altLang="en-US" sz="2000" b="1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等线 Light" charset="0"/>
              <a:cs typeface="Times New Roman" pitchFamily="18" charset="0"/>
            </a:endParaRPr>
          </a:p>
        </p:txBody>
      </p:sp>
      <p:sp>
        <p:nvSpPr>
          <p:cNvPr id="45" name="文本框"/>
          <p:cNvSpPr>
            <a:spLocks noGrp="1"/>
          </p:cNvSpPr>
          <p:nvPr>
            <p:ph type="body" idx="1"/>
          </p:nvPr>
        </p:nvSpPr>
        <p:spPr>
          <a:xfrm>
            <a:off x="335915" y="1462405"/>
            <a:ext cx="11405235" cy="490029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  <p:sp>
        <p:nvSpPr>
          <p:cNvPr id="46" name="矩形"/>
          <p:cNvSpPr>
            <a:spLocks/>
          </p:cNvSpPr>
          <p:nvPr/>
        </p:nvSpPr>
        <p:spPr>
          <a:xfrm>
            <a:off x="171450" y="194310"/>
            <a:ext cx="11830050" cy="653796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47" name="矩形"/>
          <p:cNvSpPr>
            <a:spLocks/>
          </p:cNvSpPr>
          <p:nvPr/>
        </p:nvSpPr>
        <p:spPr>
          <a:xfrm>
            <a:off x="885988" y="1698344"/>
            <a:ext cx="10305088" cy="422529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Current healthcare platforms mainly offer: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•  Manual hospital appointment systems</a:t>
            </a:r>
            <a:br>
              <a:rPr lang="zh-CN" altLang="en-US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</a:b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•  Basic teleconsultation apps</a:t>
            </a:r>
            <a:br>
              <a:rPr lang="zh-CN" altLang="en-US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</a:b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•  Separate medicine delivery services</a:t>
            </a:r>
            <a:br>
              <a:rPr lang="zh-CN" altLang="en-US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</a:b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•  No AI-based symptom guidance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Limitations: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Long waiting times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No intelligent health analysis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Fragmented platforms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Poor patient convenience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Patients must use multiple services for one medical need.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386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E8C20-D77E-22A4-5038-22BB9BBE0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51008"/>
            <a:ext cx="10515600" cy="4683829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appointment booking causes long waiting time.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Separate applications are needed for doctor consultation, medicine purchase, and appointment booking.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AI-based symptom analysis is available.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do not get immediate preliminary treatment suggestions.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 to identify the correct specialist or hospital.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systems do not provide real-time doctor availability.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and remote users have limited access to healthcare services.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399F333-81AA-B991-E0A2-C7FA95AF8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181" y="353550"/>
            <a:ext cx="12391663" cy="1325562"/>
          </a:xfrm>
        </p:spPr>
        <p:txBody>
          <a:bodyPr/>
          <a:lstStyle/>
          <a:p>
            <a:r>
              <a:rPr lang="en-US" sz="200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LIMITATION OF EXISTING SYSTEM</a:t>
            </a:r>
            <a:endParaRPr lang="en-IN" sz="2000" dirty="0">
              <a:latin typeface="Times New Roman Bold" panose="02020803070505020304" pitchFamily="18" charset="0"/>
              <a:cs typeface="Times New Roman Bold" panose="0202080307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417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"/>
          <p:cNvSpPr>
            <a:spLocks/>
          </p:cNvSpPr>
          <p:nvPr/>
        </p:nvSpPr>
        <p:spPr>
          <a:xfrm flipH="1">
            <a:off x="171450" y="306645"/>
            <a:ext cx="11806313" cy="40010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PROPOSED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TECHNOLOGY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  <p:sp>
        <p:nvSpPr>
          <p:cNvPr id="49" name="矩形"/>
          <p:cNvSpPr>
            <a:spLocks/>
          </p:cNvSpPr>
          <p:nvPr/>
        </p:nvSpPr>
        <p:spPr>
          <a:xfrm>
            <a:off x="1296955" y="1054735"/>
            <a:ext cx="9032033" cy="532955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AI MEDIBOT introduces a smart integrated healthcare system featuring: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AI symptom analysis using ML &amp; NLP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Real-time doctor availability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Appointment booking automation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Hospital &amp; specialist recommendation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Medical shopping module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Technology Stack: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Python backend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Flask/Django framework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Machine Learning models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Secure database system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This creates a centralized, intelligent healthcare platform.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  <p:sp>
        <p:nvSpPr>
          <p:cNvPr id="50" name="矩形"/>
          <p:cNvSpPr>
            <a:spLocks/>
          </p:cNvSpPr>
          <p:nvPr/>
        </p:nvSpPr>
        <p:spPr>
          <a:xfrm>
            <a:off x="171450" y="194310"/>
            <a:ext cx="11830050" cy="653796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201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7089-F34F-8838-B6DC-3ED37FD34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727" y="365124"/>
            <a:ext cx="10174145" cy="1325562"/>
          </a:xfrm>
        </p:spPr>
        <p:txBody>
          <a:bodyPr/>
          <a:lstStyle/>
          <a:p>
            <a:r>
              <a:rPr lang="en-US" sz="200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ADVANTAGES OF PROPOSED SYSTEM</a:t>
            </a:r>
            <a:endParaRPr lang="en-IN" sz="2000" dirty="0">
              <a:latin typeface="Times New Roman Bold" panose="02020803070505020304" pitchFamily="18" charset="0"/>
              <a:cs typeface="Times New Roman Bold" panose="0202080307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51BC8-2BCC-C26E-2941-F3AC29232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symptom analysis using Machine Learning and NLP.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preliminary treatment suggestions.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doctor appointment booking.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Hospital and specialist recommendation based on symptoms.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medical shopping / e-pharmacy module.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platform for all healthcare-related services.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patient waiting time.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Faster decision-making and reduced manual work.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145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2981EFC5-DBD2-6D70-4F8F-AB7D9617B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07879-2B94-3FF7-8613-735E532B8D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4702" y="580231"/>
            <a:ext cx="4038600" cy="452596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  <a:r>
              <a:rPr lang="en-IN" sz="180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Operating System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10 / Windows 11 / Linux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Frontend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CSS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Backend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Flask or Django Framework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Database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/ SQLite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AI &amp; ML Libraries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Scikit-learn, Pandas, NumPy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E85EF0-9317-CFBD-B100-CE2CACAAE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66279" y="841375"/>
            <a:ext cx="4038600" cy="4525963"/>
          </a:xfrm>
        </p:spPr>
        <p:txBody>
          <a:bodyPr/>
          <a:lstStyle/>
          <a:p>
            <a:pPr marL="0" indent="0">
              <a:buNone/>
            </a:pPr>
            <a:r>
              <a:rPr lang="en-IN" sz="180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 Minimum Hardware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Processor: Intel Core i3 or above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RAM: 4 GB minimum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Storage: 100 GB free space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connection</a:t>
            </a:r>
          </a:p>
          <a:p>
            <a:pPr marL="0" indent="0">
              <a:buNone/>
            </a:pPr>
            <a:r>
              <a:rPr lang="en-IN" sz="180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Recommended Hardware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Processor: Intel Core i5 /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Ryzen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8 GB or more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SSD storage* Webcam and microphone (for future telemedicine feature)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7EDE0-F655-FD2F-5A77-D7F5BEB9779B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462282" y="177800"/>
            <a:ext cx="4663440" cy="804862"/>
          </a:xfrm>
        </p:spPr>
        <p:txBody>
          <a:bodyPr/>
          <a:lstStyle/>
          <a:p>
            <a:r>
              <a:rPr lang="en-US" sz="200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SOFTWARE REQUIREMENTS</a:t>
            </a:r>
            <a:endParaRPr lang="en-IN" sz="2000" dirty="0">
              <a:latin typeface="Times New Roman Bold" panose="02020803070505020304" pitchFamily="18" charset="0"/>
              <a:cs typeface="Times New Roman Bold" panose="020208030705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92A3D3-517B-F583-2D68-5DB277C5CFE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614160" y="182881"/>
            <a:ext cx="4490719" cy="325119"/>
          </a:xfrm>
        </p:spPr>
        <p:txBody>
          <a:bodyPr/>
          <a:lstStyle/>
          <a:p>
            <a:r>
              <a:rPr lang="en-US" sz="200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HARDWARE REQURIEMENTS</a:t>
            </a:r>
            <a:endParaRPr lang="en-IN" sz="2000" dirty="0">
              <a:latin typeface="Times New Roman Bold" panose="02020803070505020304" pitchFamily="18" charset="0"/>
              <a:cs typeface="Times New Roman Bold" panose="0202080307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710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3799F9A-694F-4E0E-C0BC-F0D867C5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Apps Frontend For Second Review</a:t>
            </a:r>
            <a:endParaRPr lang="en-IN" sz="2000" dirty="0">
              <a:latin typeface="Times New Roman Bold" panose="02020803070505020304" pitchFamily="18" charset="0"/>
              <a:cs typeface="Times New Roman Bold" panose="02020803070505020304" pitchFamily="18" charset="0"/>
            </a:endParaRPr>
          </a:p>
        </p:txBody>
      </p:sp>
      <p:pic>
        <p:nvPicPr>
          <p:cNvPr id="12" name="Content Placeholder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E3717D-7512-06F0-B5F0-E23073740EE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011" y="1600200"/>
            <a:ext cx="2634978" cy="4525963"/>
          </a:xfrm>
        </p:spPr>
      </p:pic>
      <p:pic>
        <p:nvPicPr>
          <p:cNvPr id="10" name="Content Placeholder 9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272B2DDA-094B-A539-50DC-EE999EC037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282506" y="1600200"/>
            <a:ext cx="2769988" cy="4525963"/>
          </a:xfrm>
        </p:spPr>
      </p:pic>
    </p:spTree>
    <p:extLst>
      <p:ext uri="{BB962C8B-B14F-4D97-AF65-F5344CB8AC3E}">
        <p14:creationId xmlns:p14="http://schemas.microsoft.com/office/powerpoint/2010/main" val="2556776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2D40E-36BE-57D5-21CA-061E46B1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660" y="131444"/>
            <a:ext cx="10515600" cy="1325562"/>
          </a:xfrm>
        </p:spPr>
        <p:txBody>
          <a:bodyPr/>
          <a:lstStyle/>
          <a:p>
            <a:r>
              <a:rPr lang="en-US" sz="180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Backend-Focus Session Logic</a:t>
            </a:r>
            <a:br>
              <a:rPr lang="en-US" sz="180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</a:br>
            <a:r>
              <a:rPr lang="en-US" sz="180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(prototype stage)</a:t>
            </a:r>
            <a:endParaRPr lang="en-IN" sz="1800" dirty="0">
              <a:latin typeface="Times New Roman Bold" panose="02020803070505020304" pitchFamily="18" charset="0"/>
              <a:cs typeface="Times New Roman Bold" panose="0202080307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47CE3-7A8B-AEFB-3BE4-FEB43E318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880" y="1229360"/>
            <a:ext cx="10805160" cy="4866323"/>
          </a:xfrm>
        </p:spPr>
        <p:txBody>
          <a:bodyPr/>
          <a:lstStyle/>
          <a:p>
            <a:r>
              <a:rPr lang="en-IN" sz="180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Implemented Backend parts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Authentication Module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Symptom Processing Module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Prediction Module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Technology Used for Backend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Flask / Django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 API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/ SQLite</a:t>
            </a:r>
          </a:p>
          <a:p>
            <a:r>
              <a:rPr lang="en-IN" sz="180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Next Phase Planned for Backend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Telemedicine video consultation integration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symptom input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Chatbot support using Generative AI</a:t>
            </a:r>
          </a:p>
        </p:txBody>
      </p:sp>
    </p:spTree>
    <p:extLst>
      <p:ext uri="{BB962C8B-B14F-4D97-AF65-F5344CB8AC3E}">
        <p14:creationId xmlns:p14="http://schemas.microsoft.com/office/powerpoint/2010/main" val="4203203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1E2E7-387E-14E0-9CE6-451AA6AB1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System Architecture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A5C9CE-6B28-A113-ABCF-F5F618C60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3590" y="1331089"/>
            <a:ext cx="6099858" cy="4861367"/>
          </a:xfrm>
        </p:spPr>
      </p:pic>
    </p:spTree>
    <p:extLst>
      <p:ext uri="{BB962C8B-B14F-4D97-AF65-F5344CB8AC3E}">
        <p14:creationId xmlns:p14="http://schemas.microsoft.com/office/powerpoint/2010/main" val="2852503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"/>
          <p:cNvSpPr>
            <a:spLocks/>
          </p:cNvSpPr>
          <p:nvPr/>
        </p:nvSpPr>
        <p:spPr>
          <a:xfrm>
            <a:off x="108488" y="108488"/>
            <a:ext cx="11949193" cy="6617776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2" name="矩形"/>
          <p:cNvSpPr>
            <a:spLocks/>
          </p:cNvSpPr>
          <p:nvPr/>
        </p:nvSpPr>
        <p:spPr>
          <a:xfrm>
            <a:off x="228600" y="107950"/>
            <a:ext cx="12127230" cy="63785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marL="0" indent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SCOPE OF THE PROJECT</a:t>
            </a:r>
            <a:endParaRPr lang="zh-CN" altLang="en-US" sz="20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  <p:sp>
        <p:nvSpPr>
          <p:cNvPr id="53" name="矩形"/>
          <p:cNvSpPr>
            <a:spLocks/>
          </p:cNvSpPr>
          <p:nvPr/>
        </p:nvSpPr>
        <p:spPr>
          <a:xfrm>
            <a:off x="1296955" y="1800808"/>
            <a:ext cx="10198360" cy="440120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AI MEDIBOT can be expanded for: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• Telemedicine video consultations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zh-CN" altLang="en-US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</a:b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• Voice-based medical assistant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zh-CN" altLang="en-US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</a:b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• IoT health monitoring integration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zh-CN" altLang="en-US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</a:b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• Emergency alert systems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zh-CN" altLang="en-US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</a:b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• Smart hospital management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The system is scalable for future healthcare innovations.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892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"/>
          <p:cNvSpPr>
            <a:spLocks/>
          </p:cNvSpPr>
          <p:nvPr/>
        </p:nvSpPr>
        <p:spPr>
          <a:xfrm>
            <a:off x="108488" y="108488"/>
            <a:ext cx="11949300" cy="6617699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5" name="矩形"/>
          <p:cNvSpPr>
            <a:spLocks/>
          </p:cNvSpPr>
          <p:nvPr/>
        </p:nvSpPr>
        <p:spPr>
          <a:xfrm>
            <a:off x="228600" y="131736"/>
            <a:ext cx="12127200" cy="635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i="0" u="none" strike="noStrike" kern="1200" cap="none" spc="0" baseline="0">
              <a:solidFill>
                <a:srgbClr val="00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i="0" u="none" strike="noStrike" kern="1200" cap="none" spc="0" baseline="0">
              <a:solidFill>
                <a:srgbClr val="00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  <a:sym typeface="Times New Roman" pitchFamily="18" charset="0"/>
              </a:rPr>
              <a:t>CONCLUSION 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0" i="0" u="none" strike="noStrike" kern="1200" cap="none" spc="0" baseline="0">
              <a:solidFill>
                <a:srgbClr val="00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0" indent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000" b="0" i="0" u="none" strike="noStrike" kern="1200" cap="none" spc="0" baseline="0">
              <a:solidFill>
                <a:srgbClr val="00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sp>
        <p:nvSpPr>
          <p:cNvPr id="66" name="矩形"/>
          <p:cNvSpPr>
            <a:spLocks/>
          </p:cNvSpPr>
          <p:nvPr/>
        </p:nvSpPr>
        <p:spPr>
          <a:xfrm>
            <a:off x="1150775" y="1632858"/>
            <a:ext cx="10021200" cy="378561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>
              <a:avLst/>
            </a:prstTxWarp>
            <a:sp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AI MEDIBOT successfully demonstrates how Artificial Intelligence can modernize healthcare services.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By integrating: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Symptom analysis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Appointment booking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Hospital recommendations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Medical shopping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the system improves efficiency, accessibility, and patient convenience.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With future enhancements such as teleconsultation and smart health monitoring, AI MEDIBOT has strong potential to become a complete intelligent healthcare ecosystem.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72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"/>
          <p:cNvSpPr>
            <a:spLocks/>
          </p:cNvSpPr>
          <p:nvPr/>
        </p:nvSpPr>
        <p:spPr>
          <a:xfrm>
            <a:off x="80010" y="102870"/>
            <a:ext cx="12012930" cy="66294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8" name="矩形"/>
          <p:cNvSpPr>
            <a:spLocks/>
          </p:cNvSpPr>
          <p:nvPr/>
        </p:nvSpPr>
        <p:spPr>
          <a:xfrm>
            <a:off x="3246120" y="2686048"/>
            <a:ext cx="5143501" cy="110799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THANK YOU</a:t>
            </a:r>
            <a:endParaRPr lang="zh-CN" altLang="en-US" sz="66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537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178</TotalTime>
  <Words>1104</Words>
  <Application>Microsoft Office PowerPoint</Application>
  <PresentationFormat>Widescreen</PresentationFormat>
  <Paragraphs>194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Droid Sans</vt:lpstr>
      <vt:lpstr>Times New Roman</vt:lpstr>
      <vt:lpstr>Times New Roman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LITERATURE SURVEY</vt:lpstr>
      <vt:lpstr>EXISTING TECHNOLOGY</vt:lpstr>
      <vt:lpstr>LIMITATION OF EXISTING SYSTEM</vt:lpstr>
      <vt:lpstr>PowerPoint Presentation</vt:lpstr>
      <vt:lpstr>ADVANTAGES OF PROPOSED SYSTEM</vt:lpstr>
      <vt:lpstr>PowerPoint Presentation</vt:lpstr>
      <vt:lpstr>Apps Frontend For Second Review</vt:lpstr>
      <vt:lpstr>Backend-Focus Session Logic (prototype stage)</vt:lpstr>
      <vt:lpstr>Overall System Architecture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Monishwar</dc:creator>
  <cp:lastModifiedBy>Kaviya Murugesan</cp:lastModifiedBy>
  <cp:revision>1</cp:revision>
  <dcterms:modified xsi:type="dcterms:W3CDTF">2026-04-07T19:23:15Z</dcterms:modified>
</cp:coreProperties>
</file>